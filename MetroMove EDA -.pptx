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29353" y="3693922"/>
            <a:ext cx="28587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096" y="1865376"/>
            <a:ext cx="3966972" cy="22539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-1"/>
            <a:ext cx="6096000" cy="68579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6174" y="5714746"/>
            <a:ext cx="5400040" cy="927100"/>
            <a:chOff x="376174" y="5714746"/>
            <a:chExt cx="5400040" cy="927100"/>
          </a:xfrm>
        </p:grpSpPr>
        <p:sp>
          <p:nvSpPr>
            <p:cNvPr id="5" name="object 5"/>
            <p:cNvSpPr/>
            <p:nvPr/>
          </p:nvSpPr>
          <p:spPr>
            <a:xfrm>
              <a:off x="382524" y="5721096"/>
              <a:ext cx="5387340" cy="914400"/>
            </a:xfrm>
            <a:custGeom>
              <a:avLst/>
              <a:gdLst/>
              <a:ahLst/>
              <a:cxnLst/>
              <a:rect l="l" t="t" r="r" b="b"/>
              <a:pathLst>
                <a:path w="5387340" h="914400">
                  <a:moveTo>
                    <a:pt x="5234940" y="0"/>
                  </a:moveTo>
                  <a:lnTo>
                    <a:pt x="152399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0" y="761987"/>
                  </a:lnTo>
                  <a:lnTo>
                    <a:pt x="7769" y="810161"/>
                  </a:lnTo>
                  <a:lnTo>
                    <a:pt x="29405" y="852000"/>
                  </a:lnTo>
                  <a:lnTo>
                    <a:pt x="62396" y="884993"/>
                  </a:lnTo>
                  <a:lnTo>
                    <a:pt x="104231" y="906629"/>
                  </a:lnTo>
                  <a:lnTo>
                    <a:pt x="152399" y="914399"/>
                  </a:lnTo>
                  <a:lnTo>
                    <a:pt x="5234940" y="914399"/>
                  </a:lnTo>
                  <a:lnTo>
                    <a:pt x="5283122" y="906629"/>
                  </a:lnTo>
                  <a:lnTo>
                    <a:pt x="5324959" y="884993"/>
                  </a:lnTo>
                  <a:lnTo>
                    <a:pt x="5357945" y="852000"/>
                  </a:lnTo>
                  <a:lnTo>
                    <a:pt x="5379573" y="810161"/>
                  </a:lnTo>
                  <a:lnTo>
                    <a:pt x="5387340" y="761987"/>
                  </a:lnTo>
                  <a:lnTo>
                    <a:pt x="5387340" y="152399"/>
                  </a:lnTo>
                  <a:lnTo>
                    <a:pt x="5379573" y="104231"/>
                  </a:lnTo>
                  <a:lnTo>
                    <a:pt x="5357945" y="62396"/>
                  </a:lnTo>
                  <a:lnTo>
                    <a:pt x="5324959" y="29405"/>
                  </a:lnTo>
                  <a:lnTo>
                    <a:pt x="5283122" y="7769"/>
                  </a:lnTo>
                  <a:lnTo>
                    <a:pt x="5234940" y="0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2524" y="5721096"/>
              <a:ext cx="5387340" cy="914400"/>
            </a:xfrm>
            <a:custGeom>
              <a:avLst/>
              <a:gdLst/>
              <a:ahLst/>
              <a:cxnLst/>
              <a:rect l="l" t="t" r="r" b="b"/>
              <a:pathLst>
                <a:path w="5387340" h="9144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399" y="0"/>
                  </a:lnTo>
                  <a:lnTo>
                    <a:pt x="5234940" y="0"/>
                  </a:lnTo>
                  <a:lnTo>
                    <a:pt x="5283122" y="7769"/>
                  </a:lnTo>
                  <a:lnTo>
                    <a:pt x="5324959" y="29405"/>
                  </a:lnTo>
                  <a:lnTo>
                    <a:pt x="5357945" y="62396"/>
                  </a:lnTo>
                  <a:lnTo>
                    <a:pt x="5379573" y="104231"/>
                  </a:lnTo>
                  <a:lnTo>
                    <a:pt x="5387340" y="152399"/>
                  </a:lnTo>
                  <a:lnTo>
                    <a:pt x="5387340" y="761987"/>
                  </a:lnTo>
                  <a:lnTo>
                    <a:pt x="5379573" y="810161"/>
                  </a:lnTo>
                  <a:lnTo>
                    <a:pt x="5357945" y="852000"/>
                  </a:lnTo>
                  <a:lnTo>
                    <a:pt x="5324959" y="884993"/>
                  </a:lnTo>
                  <a:lnTo>
                    <a:pt x="5283122" y="906629"/>
                  </a:lnTo>
                  <a:lnTo>
                    <a:pt x="5234940" y="914399"/>
                  </a:lnTo>
                  <a:lnTo>
                    <a:pt x="152399" y="914399"/>
                  </a:lnTo>
                  <a:lnTo>
                    <a:pt x="104231" y="906629"/>
                  </a:lnTo>
                  <a:lnTo>
                    <a:pt x="62396" y="884993"/>
                  </a:lnTo>
                  <a:lnTo>
                    <a:pt x="29405" y="852000"/>
                  </a:lnTo>
                  <a:lnTo>
                    <a:pt x="7769" y="810161"/>
                  </a:lnTo>
                  <a:lnTo>
                    <a:pt x="0" y="761987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35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70915" y="5986068"/>
            <a:ext cx="441388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4480" marR="5080" indent="-154241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dirty="0" sz="20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EXPLORATORY</a:t>
            </a:r>
            <a:r>
              <a:rPr dirty="0" sz="20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0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20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495" y="144779"/>
            <a:ext cx="11840210" cy="6463665"/>
          </a:xfrm>
          <a:custGeom>
            <a:avLst/>
            <a:gdLst/>
            <a:ahLst/>
            <a:cxnLst/>
            <a:rect l="l" t="t" r="r" b="b"/>
            <a:pathLst>
              <a:path w="11840210" h="6463665">
                <a:moveTo>
                  <a:pt x="11839956" y="0"/>
                </a:moveTo>
                <a:lnTo>
                  <a:pt x="0" y="0"/>
                </a:lnTo>
                <a:lnTo>
                  <a:pt x="0" y="6463284"/>
                </a:lnTo>
                <a:lnTo>
                  <a:pt x="11839956" y="6463284"/>
                </a:lnTo>
                <a:lnTo>
                  <a:pt x="1183995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7236" y="162814"/>
            <a:ext cx="19335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PROJECT</a:t>
            </a:r>
            <a:r>
              <a:rPr dirty="0" sz="1800" spc="-95"/>
              <a:t> </a:t>
            </a:r>
            <a:r>
              <a:rPr dirty="0" sz="1800" spc="-10"/>
              <a:t>OVERVIEW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237236" y="711834"/>
            <a:ext cx="11684635" cy="551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6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leverage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optimize</a:t>
            </a:r>
            <a:r>
              <a:rPr dirty="0" sz="18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strategy,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pricing,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inventory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Zara.</a:t>
            </a:r>
            <a:endParaRPr sz="1800">
              <a:latin typeface="Calibri"/>
              <a:cs typeface="Calibri"/>
            </a:endParaRPr>
          </a:p>
          <a:p>
            <a:pPr algn="just" marL="12700" marR="635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examining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comprehensive</a:t>
            </a:r>
            <a:r>
              <a:rPr dirty="0" sz="18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approximately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20,000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records,</a:t>
            </a:r>
            <a:r>
              <a:rPr dirty="0" sz="18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sought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uncover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hidden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actionable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opportunities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competitive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fast-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fashion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landscape.</a:t>
            </a:r>
            <a:endParaRPr sz="1800">
              <a:latin typeface="Calibri"/>
              <a:cs typeface="Calibri"/>
            </a:endParaRPr>
          </a:p>
          <a:p>
            <a:pPr algn="just" marL="12700" marR="762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foundation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1800" spc="4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18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tailored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4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Exploratory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(EDA)</a:t>
            </a:r>
            <a:r>
              <a:rPr dirty="0" sz="18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4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predictive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modeling.</a:t>
            </a:r>
            <a:r>
              <a:rPr dirty="0" sz="18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encompassed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rich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including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pricing,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dirty="0" sz="180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volume,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seasonal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categorization,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promotional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status,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material composition,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origin.</a:t>
            </a:r>
            <a:endParaRPr sz="18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analysis,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underwent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rigorous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preprocessing,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including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values,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encoding</a:t>
            </a:r>
            <a:r>
              <a:rPr dirty="0" sz="18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categorical</a:t>
            </a:r>
            <a:r>
              <a:rPr dirty="0" sz="18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18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"Season"</a:t>
            </a:r>
            <a:r>
              <a:rPr dirty="0" sz="18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"Section"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(Gender),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dirty="0" sz="18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18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algorithmic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processing.</a:t>
            </a:r>
            <a:endParaRPr sz="1800">
              <a:latin typeface="Calibri"/>
              <a:cs typeface="Calibri"/>
            </a:endParaRPr>
          </a:p>
          <a:p>
            <a:pPr algn="just" marL="12700" marR="6350">
              <a:lnSpc>
                <a:spcPct val="100000"/>
              </a:lnSpc>
              <a:spcBef>
                <a:spcPts val="216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faceted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methodological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approach,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3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18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employed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several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r>
              <a:rPr dirty="0" sz="1800" spc="3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address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dirty="0" sz="18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questions.</a:t>
            </a:r>
            <a:r>
              <a:rPr dirty="0" sz="18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Exploratory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dirty="0" sz="18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established</a:t>
            </a:r>
            <a:r>
              <a:rPr dirty="0" sz="18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market,</a:t>
            </a:r>
            <a:r>
              <a:rPr dirty="0" sz="18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revealing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right-skewed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underscores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Zara’s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affordability-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retailer,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"sweet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spot"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volume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$25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$50.</a:t>
            </a:r>
            <a:endParaRPr sz="1800">
              <a:latin typeface="Calibri"/>
              <a:cs typeface="Calibri"/>
            </a:endParaRPr>
          </a:p>
          <a:p>
            <a:pPr algn="just" marL="12700" marR="762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this,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Regressor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deployed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volume,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identifying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seasonality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critical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variables.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dirty="0"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utilized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probability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becoming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bestseller,</a:t>
            </a:r>
            <a:r>
              <a:rPr dirty="0"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isolating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"Promotion"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strongest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predictor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success.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4572000"/>
            <a:ext cx="11628120" cy="1754505"/>
          </a:xfrm>
          <a:prstGeom prst="rect">
            <a:avLst/>
          </a:prstGeom>
          <a:solidFill>
            <a:srgbClr val="A6A6A6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 marR="10663555">
              <a:lnSpc>
                <a:spcPct val="100000"/>
              </a:lnSpc>
              <a:spcBef>
                <a:spcPts val="245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TOOLS PYTHON: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r>
              <a:rPr dirty="0" sz="18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91440" marR="774890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Calculation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Matplotlib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Seaborn</a:t>
            </a:r>
            <a:r>
              <a:rPr dirty="0" sz="18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Visualization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Scikit-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940" y="254508"/>
            <a:ext cx="11628120" cy="4057015"/>
          </a:xfrm>
          <a:custGeom>
            <a:avLst/>
            <a:gdLst/>
            <a:ahLst/>
            <a:cxnLst/>
            <a:rect l="l" t="t" r="r" b="b"/>
            <a:pathLst>
              <a:path w="11628120" h="4057015">
                <a:moveTo>
                  <a:pt x="11628120" y="0"/>
                </a:moveTo>
                <a:lnTo>
                  <a:pt x="0" y="0"/>
                </a:lnTo>
                <a:lnTo>
                  <a:pt x="0" y="4056888"/>
                </a:lnTo>
                <a:lnTo>
                  <a:pt x="11628120" y="4056888"/>
                </a:lnTo>
                <a:lnTo>
                  <a:pt x="1162812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0984" y="155930"/>
            <a:ext cx="11470640" cy="407098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METHODOLOGY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insights,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implemented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rigorous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pipeline: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7200"/>
              </a:lnSpc>
              <a:spcBef>
                <a:spcPts val="79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3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Cleaning:</a:t>
            </a:r>
            <a:r>
              <a:rPr dirty="0" sz="1800" spc="3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scrutinized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20,000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records.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handled</a:t>
            </a:r>
            <a:r>
              <a:rPr dirty="0" sz="1800" spc="3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8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converted</a:t>
            </a:r>
            <a:r>
              <a:rPr dirty="0" sz="1800" spc="3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their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0"/>
              </a:spcBef>
              <a:buSzPct val="55555"/>
              <a:buFont typeface="Symbol"/>
              <a:buChar char=""/>
              <a:tabLst>
                <a:tab pos="354965" algn="l"/>
                <a:tab pos="1870710" algn="l"/>
                <a:tab pos="3199130" algn="l"/>
                <a:tab pos="3682365" algn="l"/>
                <a:tab pos="4231640" algn="l"/>
                <a:tab pos="4586605" algn="l"/>
                <a:tab pos="5574030" algn="l"/>
                <a:tab pos="6722109" algn="l"/>
                <a:tab pos="7685405" algn="l"/>
                <a:tab pos="8602345" algn="l"/>
                <a:tab pos="9581515" algn="l"/>
                <a:tab pos="10346055" algn="l"/>
                <a:tab pos="10829290" algn="l"/>
              </a:tabLst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Preprocessing: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Transformed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encoding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categorical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(Season,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Material,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Origin)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(Price,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Volume)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algorithmic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processing.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6700"/>
              </a:lnSpc>
              <a:spcBef>
                <a:spcPts val="815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Validation:</a:t>
            </a:r>
            <a:r>
              <a:rPr dirty="0" sz="1800" spc="3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Implemented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80/20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Train-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8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1800" spc="3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800" spc="3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were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tested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800" spc="3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unseen</a:t>
            </a:r>
            <a:r>
              <a:rPr dirty="0" sz="18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preventing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overfitting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ensuring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reliability.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44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Modeling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Forest: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elasticity.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Regression: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"Promotion" as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#1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statistical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driver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bestsellers.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294" y="4036936"/>
            <a:ext cx="9089981" cy="43073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59510" y="2896870"/>
            <a:ext cx="9872980" cy="953135"/>
            <a:chOff x="1159510" y="2896870"/>
            <a:chExt cx="9872980" cy="953135"/>
          </a:xfrm>
        </p:grpSpPr>
        <p:sp>
          <p:nvSpPr>
            <p:cNvPr id="4" name="object 4"/>
            <p:cNvSpPr/>
            <p:nvPr/>
          </p:nvSpPr>
          <p:spPr>
            <a:xfrm>
              <a:off x="1165860" y="2903220"/>
              <a:ext cx="9860280" cy="940435"/>
            </a:xfrm>
            <a:custGeom>
              <a:avLst/>
              <a:gdLst/>
              <a:ahLst/>
              <a:cxnLst/>
              <a:rect l="l" t="t" r="r" b="b"/>
              <a:pathLst>
                <a:path w="9860280" h="940435">
                  <a:moveTo>
                    <a:pt x="9703562" y="0"/>
                  </a:moveTo>
                  <a:lnTo>
                    <a:pt x="156718" y="0"/>
                  </a:lnTo>
                  <a:lnTo>
                    <a:pt x="107183" y="7995"/>
                  </a:lnTo>
                  <a:lnTo>
                    <a:pt x="64163" y="30256"/>
                  </a:lnTo>
                  <a:lnTo>
                    <a:pt x="30238" y="64190"/>
                  </a:lnTo>
                  <a:lnTo>
                    <a:pt x="7989" y="107208"/>
                  </a:lnTo>
                  <a:lnTo>
                    <a:pt x="0" y="156717"/>
                  </a:lnTo>
                  <a:lnTo>
                    <a:pt x="0" y="783589"/>
                  </a:lnTo>
                  <a:lnTo>
                    <a:pt x="7989" y="833099"/>
                  </a:lnTo>
                  <a:lnTo>
                    <a:pt x="30238" y="876117"/>
                  </a:lnTo>
                  <a:lnTo>
                    <a:pt x="64163" y="910051"/>
                  </a:lnTo>
                  <a:lnTo>
                    <a:pt x="107183" y="932312"/>
                  </a:lnTo>
                  <a:lnTo>
                    <a:pt x="156718" y="940307"/>
                  </a:lnTo>
                  <a:lnTo>
                    <a:pt x="9703562" y="940307"/>
                  </a:lnTo>
                  <a:lnTo>
                    <a:pt x="9753071" y="932312"/>
                  </a:lnTo>
                  <a:lnTo>
                    <a:pt x="9796089" y="910051"/>
                  </a:lnTo>
                  <a:lnTo>
                    <a:pt x="9830023" y="876117"/>
                  </a:lnTo>
                  <a:lnTo>
                    <a:pt x="9852284" y="833099"/>
                  </a:lnTo>
                  <a:lnTo>
                    <a:pt x="9860280" y="783589"/>
                  </a:lnTo>
                  <a:lnTo>
                    <a:pt x="9860280" y="156717"/>
                  </a:lnTo>
                  <a:lnTo>
                    <a:pt x="9852284" y="107208"/>
                  </a:lnTo>
                  <a:lnTo>
                    <a:pt x="9830023" y="64190"/>
                  </a:lnTo>
                  <a:lnTo>
                    <a:pt x="9796089" y="30256"/>
                  </a:lnTo>
                  <a:lnTo>
                    <a:pt x="9753071" y="7995"/>
                  </a:lnTo>
                  <a:lnTo>
                    <a:pt x="9703562" y="0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65860" y="2903220"/>
              <a:ext cx="9860280" cy="940435"/>
            </a:xfrm>
            <a:custGeom>
              <a:avLst/>
              <a:gdLst/>
              <a:ahLst/>
              <a:cxnLst/>
              <a:rect l="l" t="t" r="r" b="b"/>
              <a:pathLst>
                <a:path w="9860280" h="940435">
                  <a:moveTo>
                    <a:pt x="0" y="156717"/>
                  </a:moveTo>
                  <a:lnTo>
                    <a:pt x="7989" y="107208"/>
                  </a:lnTo>
                  <a:lnTo>
                    <a:pt x="30238" y="64190"/>
                  </a:lnTo>
                  <a:lnTo>
                    <a:pt x="64163" y="30256"/>
                  </a:lnTo>
                  <a:lnTo>
                    <a:pt x="107183" y="7995"/>
                  </a:lnTo>
                  <a:lnTo>
                    <a:pt x="156718" y="0"/>
                  </a:lnTo>
                  <a:lnTo>
                    <a:pt x="9703562" y="0"/>
                  </a:lnTo>
                  <a:lnTo>
                    <a:pt x="9753071" y="7995"/>
                  </a:lnTo>
                  <a:lnTo>
                    <a:pt x="9796089" y="30256"/>
                  </a:lnTo>
                  <a:lnTo>
                    <a:pt x="9830023" y="64190"/>
                  </a:lnTo>
                  <a:lnTo>
                    <a:pt x="9852284" y="107208"/>
                  </a:lnTo>
                  <a:lnTo>
                    <a:pt x="9860280" y="156717"/>
                  </a:lnTo>
                  <a:lnTo>
                    <a:pt x="9860280" y="783589"/>
                  </a:lnTo>
                  <a:lnTo>
                    <a:pt x="9852284" y="833099"/>
                  </a:lnTo>
                  <a:lnTo>
                    <a:pt x="9830023" y="876117"/>
                  </a:lnTo>
                  <a:lnTo>
                    <a:pt x="9796089" y="910051"/>
                  </a:lnTo>
                  <a:lnTo>
                    <a:pt x="9753071" y="932312"/>
                  </a:lnTo>
                  <a:lnTo>
                    <a:pt x="9703562" y="940307"/>
                  </a:lnTo>
                  <a:lnTo>
                    <a:pt x="156718" y="940307"/>
                  </a:lnTo>
                  <a:lnTo>
                    <a:pt x="107183" y="932312"/>
                  </a:lnTo>
                  <a:lnTo>
                    <a:pt x="64163" y="910051"/>
                  </a:lnTo>
                  <a:lnTo>
                    <a:pt x="30238" y="876117"/>
                  </a:lnTo>
                  <a:lnTo>
                    <a:pt x="7989" y="833099"/>
                  </a:lnTo>
                  <a:lnTo>
                    <a:pt x="0" y="783589"/>
                  </a:lnTo>
                  <a:lnTo>
                    <a:pt x="0" y="156717"/>
                  </a:lnTo>
                  <a:close/>
                </a:path>
              </a:pathLst>
            </a:custGeom>
            <a:ln w="12700">
              <a:solidFill>
                <a:srgbClr val="1735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318130" y="3116402"/>
            <a:ext cx="75565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/>
              <a:t>EXPLORATORY</a:t>
            </a:r>
            <a:r>
              <a:rPr dirty="0" sz="2800" spc="-100"/>
              <a:t> </a:t>
            </a:r>
            <a:r>
              <a:rPr dirty="0" sz="2800" spc="-130"/>
              <a:t>DATA</a:t>
            </a:r>
            <a:r>
              <a:rPr dirty="0" sz="2800" spc="-30"/>
              <a:t> </a:t>
            </a:r>
            <a:r>
              <a:rPr dirty="0" sz="2800" spc="-35"/>
              <a:t>ANALYSIS</a:t>
            </a:r>
            <a:r>
              <a:rPr dirty="0" sz="2800" spc="-40"/>
              <a:t> </a:t>
            </a:r>
            <a:r>
              <a:rPr dirty="0" sz="2800"/>
              <a:t>AND</a:t>
            </a:r>
            <a:r>
              <a:rPr dirty="0" sz="2800" spc="-45"/>
              <a:t> </a:t>
            </a:r>
            <a:r>
              <a:rPr dirty="0" sz="2800" spc="-10"/>
              <a:t>VISUALIZATION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3983" y="877824"/>
            <a:ext cx="3571240" cy="2153920"/>
          </a:xfrm>
          <a:custGeom>
            <a:avLst/>
            <a:gdLst/>
            <a:ahLst/>
            <a:cxnLst/>
            <a:rect l="l" t="t" r="r" b="b"/>
            <a:pathLst>
              <a:path w="3571240" h="2153920">
                <a:moveTo>
                  <a:pt x="3570731" y="0"/>
                </a:moveTo>
                <a:lnTo>
                  <a:pt x="0" y="0"/>
                </a:lnTo>
                <a:lnTo>
                  <a:pt x="0" y="2153412"/>
                </a:lnTo>
                <a:lnTo>
                  <a:pt x="3570731" y="2153412"/>
                </a:lnTo>
                <a:lnTo>
                  <a:pt x="3570731" y="0"/>
                </a:lnTo>
                <a:close/>
              </a:path>
            </a:pathLst>
          </a:custGeom>
          <a:solidFill>
            <a:srgbClr val="B4CE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34247" y="881964"/>
            <a:ext cx="3387725" cy="2081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160">
              <a:lnSpc>
                <a:spcPct val="107100"/>
              </a:lnSpc>
              <a:spcBef>
                <a:spcPts val="10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distribution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right-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skewed,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indicating</a:t>
            </a:r>
            <a:r>
              <a:rPr dirty="0" sz="1800" spc="1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that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majority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Zara's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products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are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priced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at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lower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mid-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range,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with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few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6900"/>
              </a:lnSpc>
              <a:spcBef>
                <a:spcPts val="5"/>
              </a:spcBef>
            </a:pP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priced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items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extending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tail.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aligns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with the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fast-fashion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affordability.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398" y="531149"/>
            <a:ext cx="7649624" cy="6149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3463" y="111252"/>
            <a:ext cx="5623560" cy="1560830"/>
          </a:xfrm>
          <a:prstGeom prst="rect"/>
          <a:solidFill>
            <a:srgbClr val="B4CEF0"/>
          </a:solidFill>
        </p:spPr>
        <p:txBody>
          <a:bodyPr wrap="square" lIns="0" tIns="17145" rIns="0" bIns="0" rtlCol="0" vert="horz">
            <a:spAutoFit/>
          </a:bodyPr>
          <a:lstStyle/>
          <a:p>
            <a:pPr marL="92075" marR="119380">
              <a:lnSpc>
                <a:spcPct val="107100"/>
              </a:lnSpc>
              <a:spcBef>
                <a:spcPts val="135"/>
              </a:spcBef>
            </a:pPr>
            <a:r>
              <a:rPr dirty="0" sz="1800">
                <a:solidFill>
                  <a:srgbClr val="154868"/>
                </a:solidFill>
              </a:rPr>
              <a:t>Total</a:t>
            </a:r>
            <a:r>
              <a:rPr dirty="0" sz="1800" spc="-40">
                <a:solidFill>
                  <a:srgbClr val="154868"/>
                </a:solidFill>
              </a:rPr>
              <a:t> </a:t>
            </a:r>
            <a:r>
              <a:rPr dirty="0" sz="1800">
                <a:solidFill>
                  <a:srgbClr val="154868"/>
                </a:solidFill>
              </a:rPr>
              <a:t>Sales</a:t>
            </a:r>
            <a:r>
              <a:rPr dirty="0" sz="1800" spc="-45">
                <a:solidFill>
                  <a:srgbClr val="154868"/>
                </a:solidFill>
              </a:rPr>
              <a:t> </a:t>
            </a:r>
            <a:r>
              <a:rPr dirty="0" sz="1800">
                <a:solidFill>
                  <a:srgbClr val="154868"/>
                </a:solidFill>
              </a:rPr>
              <a:t>Volume:</a:t>
            </a:r>
            <a:r>
              <a:rPr dirty="0" sz="1800" spc="-50">
                <a:solidFill>
                  <a:srgbClr val="154868"/>
                </a:solidFill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Autumn</a:t>
            </a:r>
            <a:r>
              <a:rPr dirty="0" sz="1800" spc="-1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2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highest</a:t>
            </a:r>
            <a:r>
              <a:rPr dirty="0" sz="1800" spc="-3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10" b="0">
                <a:solidFill>
                  <a:srgbClr val="154868"/>
                </a:solidFill>
                <a:latin typeface="Calibri"/>
                <a:cs typeface="Calibri"/>
              </a:rPr>
              <a:t> season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overall,</a:t>
            </a:r>
            <a:r>
              <a:rPr dirty="0" sz="1800" spc="-3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driving</a:t>
            </a:r>
            <a:r>
              <a:rPr dirty="0" sz="1800" spc="-1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nearly</a:t>
            </a:r>
            <a:r>
              <a:rPr dirty="0" sz="1800" spc="-2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8</a:t>
            </a:r>
            <a:r>
              <a:rPr dirty="0" sz="1800" spc="-2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million</a:t>
            </a:r>
            <a:r>
              <a:rPr dirty="0" sz="1800" spc="-1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sales,</a:t>
            </a:r>
            <a:r>
              <a:rPr dirty="0" sz="1800" spc="-4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followed</a:t>
            </a:r>
            <a:r>
              <a:rPr dirty="0" sz="1800" spc="-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r>
              <a:rPr dirty="0" sz="1800" spc="-2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154868"/>
                </a:solidFill>
                <a:latin typeface="Calibri"/>
                <a:cs typeface="Calibri"/>
              </a:rPr>
              <a:t>Winter.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Winter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strong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in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both</a:t>
            </a:r>
            <a:r>
              <a:rPr dirty="0" sz="1800" spc="-4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metrics,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high</a:t>
            </a:r>
            <a:r>
              <a:rPr dirty="0" sz="1800" spc="-3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total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 b="0">
                <a:solidFill>
                  <a:srgbClr val="154868"/>
                </a:solidFill>
                <a:latin typeface="Calibri"/>
                <a:cs typeface="Calibri"/>
              </a:rPr>
              <a:t>(6M)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2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high</a:t>
            </a:r>
            <a:r>
              <a:rPr dirty="0" sz="1800" spc="-3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154868"/>
                </a:solidFill>
                <a:latin typeface="Calibri"/>
                <a:cs typeface="Calibri"/>
              </a:rPr>
              <a:t>average</a:t>
            </a:r>
            <a:r>
              <a:rPr dirty="0" sz="1800" spc="-4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45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per</a:t>
            </a:r>
            <a:r>
              <a:rPr dirty="0" sz="1800" spc="-3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item</a:t>
            </a:r>
            <a:r>
              <a:rPr dirty="0" sz="1800" spc="-2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154868"/>
                </a:solidFill>
                <a:latin typeface="Calibri"/>
                <a:cs typeface="Calibri"/>
              </a:rPr>
              <a:t>(1,175),</a:t>
            </a:r>
            <a:r>
              <a:rPr dirty="0" sz="1800" spc="10" b="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</a:rPr>
              <a:t>confirming</a:t>
            </a:r>
            <a:r>
              <a:rPr dirty="0" sz="1800" spc="-70">
                <a:solidFill>
                  <a:srgbClr val="154868"/>
                </a:solidFill>
              </a:rPr>
              <a:t> </a:t>
            </a:r>
            <a:r>
              <a:rPr dirty="0" sz="1800">
                <a:solidFill>
                  <a:srgbClr val="154868"/>
                </a:solidFill>
              </a:rPr>
              <a:t>it</a:t>
            </a:r>
            <a:r>
              <a:rPr dirty="0" sz="1800" spc="-35">
                <a:solidFill>
                  <a:srgbClr val="154868"/>
                </a:solidFill>
              </a:rPr>
              <a:t> </a:t>
            </a:r>
            <a:r>
              <a:rPr dirty="0" sz="1800">
                <a:solidFill>
                  <a:srgbClr val="154868"/>
                </a:solidFill>
              </a:rPr>
              <a:t>as</a:t>
            </a:r>
            <a:r>
              <a:rPr dirty="0" sz="1800" spc="-35">
                <a:solidFill>
                  <a:srgbClr val="154868"/>
                </a:solidFill>
              </a:rPr>
              <a:t> </a:t>
            </a:r>
            <a:r>
              <a:rPr dirty="0" sz="1800" spc="-50">
                <a:solidFill>
                  <a:srgbClr val="154868"/>
                </a:solidFill>
              </a:rPr>
              <a:t>a </a:t>
            </a:r>
            <a:r>
              <a:rPr dirty="0" sz="1800">
                <a:solidFill>
                  <a:srgbClr val="154868"/>
                </a:solidFill>
              </a:rPr>
              <a:t>critical</a:t>
            </a:r>
            <a:r>
              <a:rPr dirty="0" sz="1800" spc="-50">
                <a:solidFill>
                  <a:srgbClr val="154868"/>
                </a:solidFill>
              </a:rPr>
              <a:t> </a:t>
            </a:r>
            <a:r>
              <a:rPr dirty="0" sz="1800">
                <a:solidFill>
                  <a:srgbClr val="154868"/>
                </a:solidFill>
              </a:rPr>
              <a:t>revenue</a:t>
            </a:r>
            <a:r>
              <a:rPr dirty="0" sz="1800" spc="-30">
                <a:solidFill>
                  <a:srgbClr val="154868"/>
                </a:solidFill>
              </a:rPr>
              <a:t> </a:t>
            </a:r>
            <a:r>
              <a:rPr dirty="0" sz="1800" spc="-10">
                <a:solidFill>
                  <a:srgbClr val="154868"/>
                </a:solidFill>
              </a:rPr>
              <a:t>period.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02" y="1767956"/>
            <a:ext cx="5431483" cy="48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5099" y="1801495"/>
            <a:ext cx="5357315" cy="48063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94476" y="152400"/>
            <a:ext cx="6097905" cy="1478280"/>
          </a:xfrm>
          <a:prstGeom prst="rect">
            <a:avLst/>
          </a:prstGeom>
          <a:solidFill>
            <a:srgbClr val="B4CEF0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 marR="259715">
              <a:lnSpc>
                <a:spcPct val="100000"/>
              </a:lnSpc>
              <a:spcBef>
                <a:spcPts val="245"/>
              </a:spcBef>
            </a:pP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Average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Volume: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Interestingly,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while</a:t>
            </a:r>
            <a:r>
              <a:rPr dirty="0" sz="1800" spc="1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Summer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has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lowest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total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(likely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due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fewer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products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or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shorter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window),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has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highest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average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per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product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(1,185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units).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suggests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that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Summer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items,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when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listed,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perform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very</a:t>
            </a:r>
            <a:r>
              <a:rPr dirty="0" sz="1800" spc="-8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efficiently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individually.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3776" y="2596895"/>
            <a:ext cx="5005070" cy="1664335"/>
          </a:xfrm>
          <a:custGeom>
            <a:avLst/>
            <a:gdLst/>
            <a:ahLst/>
            <a:cxnLst/>
            <a:rect l="l" t="t" r="r" b="b"/>
            <a:pathLst>
              <a:path w="5005070" h="1664335">
                <a:moveTo>
                  <a:pt x="5004816" y="0"/>
                </a:moveTo>
                <a:lnTo>
                  <a:pt x="0" y="0"/>
                </a:lnTo>
                <a:lnTo>
                  <a:pt x="0" y="1664208"/>
                </a:lnTo>
                <a:lnTo>
                  <a:pt x="5004816" y="1664208"/>
                </a:lnTo>
                <a:lnTo>
                  <a:pt x="5004816" y="0"/>
                </a:lnTo>
                <a:close/>
              </a:path>
            </a:pathLst>
          </a:custGeom>
          <a:solidFill>
            <a:srgbClr val="B4CE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3125" y="2500207"/>
            <a:ext cx="4837430" cy="169735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Gender-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Based</a:t>
            </a:r>
            <a:r>
              <a:rPr dirty="0" sz="1800" spc="-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Segmentation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6900"/>
              </a:lnSpc>
              <a:spcBef>
                <a:spcPts val="81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count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products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section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(MAN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vs.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WOMAN)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shows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inventory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balance.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reveals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if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dataset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(or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Zara's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strategy)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leans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heavily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towards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one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demographic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-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Woman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307" y="492578"/>
            <a:ext cx="4757769" cy="5526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367" y="130488"/>
            <a:ext cx="11708101" cy="65390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828" y="111252"/>
            <a:ext cx="11899900" cy="774700"/>
          </a:xfrm>
          <a:prstGeom prst="rect">
            <a:avLst/>
          </a:prstGeom>
          <a:solidFill>
            <a:srgbClr val="B4CEF0"/>
          </a:solidFill>
        </p:spPr>
        <p:txBody>
          <a:bodyPr wrap="square" lIns="0" tIns="3619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Profitability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r>
              <a:rPr dirty="0" sz="1800" spc="-1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Fabric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Type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Using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"Revenue"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(Price</a:t>
            </a:r>
            <a:r>
              <a:rPr dirty="0" sz="1800" spc="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X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Volume)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as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proxy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profitability.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10" y="1122138"/>
            <a:ext cx="11896530" cy="5615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79" y="262518"/>
            <a:ext cx="11792029" cy="65103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7952" y="157098"/>
          <a:ext cx="11532870" cy="6591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205"/>
                <a:gridCol w="1422399"/>
                <a:gridCol w="2344420"/>
                <a:gridCol w="2301875"/>
                <a:gridCol w="2140584"/>
                <a:gridCol w="1097915"/>
              </a:tblGrid>
              <a:tr h="316230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400" spc="-7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335"/>
                        </a:lnSpc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($)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ts val="1335"/>
                        </a:lnSpc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400" spc="-1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Volume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ts val="1335"/>
                        </a:lnSpc>
                      </a:pP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Total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dirty="0" sz="1400" spc="-3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ts val="1335"/>
                        </a:lnSpc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1400" spc="-3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(Gender)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1335"/>
                        </a:lnSpc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Season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662940">
                <a:tc>
                  <a:txBody>
                    <a:bodyPr/>
                    <a:lstStyle/>
                    <a:p>
                      <a:pPr marL="31750" marR="32384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Asymmetrical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Wool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Silk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Blend</a:t>
                      </a:r>
                      <a:r>
                        <a:rPr dirty="0" sz="1400" spc="-4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Sweater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115.95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1,431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165,924.45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Winter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</a:tr>
              <a:tr h="663575">
                <a:tc>
                  <a:txBody>
                    <a:bodyPr/>
                    <a:lstStyle/>
                    <a:p>
                      <a:pPr marL="31750" marR="28765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Printed</a:t>
                      </a:r>
                      <a:r>
                        <a:rPr dirty="0" sz="1400" spc="-5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Cropped</a:t>
                      </a:r>
                      <a:r>
                        <a:rPr dirty="0" sz="1400" spc="-6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Fit</a:t>
                      </a:r>
                      <a:r>
                        <a:rPr dirty="0" sz="1400" spc="-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Shirt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400" spc="-6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Edition</a:t>
                      </a:r>
                      <a:r>
                        <a:rPr dirty="0" sz="1400" spc="-4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Black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117.99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1,359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160,348.41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</a:tr>
              <a:tr h="454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Ribbed</a:t>
                      </a:r>
                      <a:r>
                        <a:rPr dirty="0" sz="1400" spc="-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Knit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T-Shirt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Ivory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109.95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1,410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155,029.50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</a:tr>
              <a:tr h="662940">
                <a:tc>
                  <a:txBody>
                    <a:bodyPr/>
                    <a:lstStyle/>
                    <a:p>
                      <a:pPr marL="31750" marR="6572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Relaxed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Faux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Suede Overshirt</a:t>
                      </a:r>
                      <a:r>
                        <a:rPr dirty="0" sz="1400" spc="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Brown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111.99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1,355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151,746.45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00660"/>
                </a:tc>
              </a:tr>
              <a:tr h="659130">
                <a:tc>
                  <a:txBody>
                    <a:bodyPr/>
                    <a:lstStyle/>
                    <a:p>
                      <a:pPr marL="31750" marR="3359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Quilted</a:t>
                      </a:r>
                      <a:r>
                        <a:rPr dirty="0" sz="1400" spc="-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Jacquard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Denim Jacket</a:t>
                      </a:r>
                      <a:r>
                        <a:rPr dirty="0" sz="1400" spc="-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Ivory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115.95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1,307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151,546.65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</a:tr>
              <a:tr h="654685">
                <a:tc>
                  <a:txBody>
                    <a:bodyPr/>
                    <a:lstStyle/>
                    <a:p>
                      <a:pPr marL="31750" marR="27051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Puffer</a:t>
                      </a:r>
                      <a:r>
                        <a:rPr dirty="0" sz="1400" spc="-5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Jacket</a:t>
                      </a:r>
                      <a:r>
                        <a:rPr dirty="0" sz="1400" spc="-5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Pouch Pocket</a:t>
                      </a:r>
                      <a:r>
                        <a:rPr dirty="0" sz="1400" spc="-5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Ivory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106.99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1,410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150,855.90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Winter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</a:tr>
              <a:tr h="817880">
                <a:tc>
                  <a:txBody>
                    <a:bodyPr/>
                    <a:lstStyle/>
                    <a:p>
                      <a:pPr algn="just" marL="31750" marR="43053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Tailored</a:t>
                      </a:r>
                      <a:r>
                        <a:rPr dirty="0" sz="1400" spc="-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Vintage</a:t>
                      </a:r>
                      <a:r>
                        <a:rPr dirty="0" sz="1400" spc="-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Effect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Leather</a:t>
                      </a:r>
                      <a:r>
                        <a:rPr dirty="0" sz="1400" spc="-6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Bomber</a:t>
                      </a:r>
                      <a:r>
                        <a:rPr dirty="0" sz="1400" spc="-5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Jacket Beige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113.95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065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1,322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861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150,641.90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40055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5593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Winter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</a:tr>
              <a:tr h="5626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Tassel</a:t>
                      </a:r>
                      <a:r>
                        <a:rPr dirty="0" sz="1400" spc="-3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Leather</a:t>
                      </a:r>
                      <a:r>
                        <a:rPr dirty="0" sz="1400" spc="-4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Loafers</a:t>
                      </a:r>
                      <a:r>
                        <a:rPr dirty="0" sz="1400" spc="-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Beige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#4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937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119.99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605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1,254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6050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150,467.46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6050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605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Winter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6050"/>
                </a:tc>
              </a:tr>
              <a:tr h="612775">
                <a:tc>
                  <a:txBody>
                    <a:bodyPr/>
                    <a:lstStyle/>
                    <a:p>
                      <a:pPr marL="31750" marR="4337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Slim</a:t>
                      </a:r>
                      <a:r>
                        <a:rPr dirty="0" sz="1400" spc="-3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Abstract</a:t>
                      </a:r>
                      <a:r>
                        <a:rPr dirty="0" sz="1400" spc="-4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Jacquard Sweater</a:t>
                      </a:r>
                      <a:r>
                        <a:rPr dirty="0" sz="1400" spc="-3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Navy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114.99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1,301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149,601.99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</a:tr>
              <a:tr h="525145">
                <a:tc>
                  <a:txBody>
                    <a:bodyPr/>
                    <a:lstStyle/>
                    <a:p>
                      <a:pPr marL="31750" marR="7499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Belted</a:t>
                      </a:r>
                      <a:r>
                        <a:rPr dirty="0" sz="1400" spc="-7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r>
                        <a:rPr dirty="0" sz="14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Linen Overshirt</a:t>
                      </a:r>
                      <a:r>
                        <a:rPr dirty="0" sz="1400" spc="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Ivory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99.95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1,486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148,525.70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WOMAN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4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Summer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621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736" y="289559"/>
            <a:ext cx="11750040" cy="4247515"/>
          </a:xfrm>
          <a:custGeom>
            <a:avLst/>
            <a:gdLst/>
            <a:ahLst/>
            <a:cxnLst/>
            <a:rect l="l" t="t" r="r" b="b"/>
            <a:pathLst>
              <a:path w="11750040" h="4247515">
                <a:moveTo>
                  <a:pt x="11750040" y="0"/>
                </a:moveTo>
                <a:lnTo>
                  <a:pt x="0" y="0"/>
                </a:lnTo>
                <a:lnTo>
                  <a:pt x="0" y="4247388"/>
                </a:lnTo>
                <a:lnTo>
                  <a:pt x="11750040" y="4247388"/>
                </a:lnTo>
                <a:lnTo>
                  <a:pt x="11750040" y="0"/>
                </a:lnTo>
                <a:close/>
              </a:path>
            </a:pathLst>
          </a:custGeom>
          <a:solidFill>
            <a:srgbClr val="B4CE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1866" y="307594"/>
            <a:ext cx="11512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54868"/>
                </a:solidFill>
              </a:rPr>
              <a:t>Key</a:t>
            </a:r>
            <a:r>
              <a:rPr dirty="0" sz="1800" spc="-75">
                <a:solidFill>
                  <a:srgbClr val="154868"/>
                </a:solidFill>
              </a:rPr>
              <a:t> </a:t>
            </a:r>
            <a:r>
              <a:rPr dirty="0" sz="1800" spc="-10">
                <a:solidFill>
                  <a:srgbClr val="154868"/>
                </a:solidFill>
              </a:rPr>
              <a:t>Insights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251866" y="856234"/>
            <a:ext cx="11452225" cy="3592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Dominance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WOMAN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Section: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Every</a:t>
            </a:r>
            <a:r>
              <a:rPr dirty="0" sz="1800" spc="-6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single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product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top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10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revenue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list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from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WOMAN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section.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strongly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indicates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that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demographic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primary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driver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value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sales.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High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Points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Work: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Unlike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"Best</a:t>
            </a:r>
            <a:r>
              <a:rPr dirty="0" sz="1800" spc="-6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Sellers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Volume"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list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(which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were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mostly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$20-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$30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items),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"Revenue"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list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is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dominated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items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priced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around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$100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-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$120.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These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are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premium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items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like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wool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blends,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leather,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elaborate jackets.</a:t>
            </a:r>
            <a:endParaRPr sz="1800">
              <a:latin typeface="Calibri"/>
              <a:cs typeface="Calibri"/>
            </a:endParaRPr>
          </a:p>
          <a:p>
            <a:pPr marL="299085" marR="403225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Seasonality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Balanced: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list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split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fairly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evenly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between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Summer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(light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jackets,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linen,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printed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shirts)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Winter (sweaters,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puffer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jackets,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leather).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shows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that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customers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are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willing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pay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premium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seasonal</a:t>
            </a:r>
            <a:r>
              <a:rPr dirty="0" sz="1800" spc="-6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"statement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pieces"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all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year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round.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Material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Matters: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Notice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materials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implied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names: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"Wool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Silk",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"Leather",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"Linen",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"Jacquard".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These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premium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materials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justify</a:t>
            </a:r>
            <a:r>
              <a:rPr dirty="0" sz="1800" spc="-6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higher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point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still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achieve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high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(over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1,200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units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each).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00" y="150064"/>
            <a:ext cx="11475023" cy="65278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25" y="284567"/>
            <a:ext cx="11631402" cy="6393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000" y="274843"/>
            <a:ext cx="11680815" cy="63473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8658" y="3422650"/>
            <a:ext cx="11488420" cy="1092200"/>
            <a:chOff x="438658" y="3422650"/>
            <a:chExt cx="11488420" cy="1092200"/>
          </a:xfrm>
        </p:grpSpPr>
        <p:sp>
          <p:nvSpPr>
            <p:cNvPr id="3" name="object 3"/>
            <p:cNvSpPr/>
            <p:nvPr/>
          </p:nvSpPr>
          <p:spPr>
            <a:xfrm>
              <a:off x="445008" y="3429000"/>
              <a:ext cx="11475720" cy="1079500"/>
            </a:xfrm>
            <a:custGeom>
              <a:avLst/>
              <a:gdLst/>
              <a:ahLst/>
              <a:cxnLst/>
              <a:rect l="l" t="t" r="r" b="b"/>
              <a:pathLst>
                <a:path w="11475720" h="1079500">
                  <a:moveTo>
                    <a:pt x="11295888" y="0"/>
                  </a:moveTo>
                  <a:lnTo>
                    <a:pt x="179832" y="0"/>
                  </a:ln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0" y="899160"/>
                  </a:lnTo>
                  <a:lnTo>
                    <a:pt x="6424" y="946964"/>
                  </a:lnTo>
                  <a:lnTo>
                    <a:pt x="24553" y="989922"/>
                  </a:lnTo>
                  <a:lnTo>
                    <a:pt x="52673" y="1026318"/>
                  </a:lnTo>
                  <a:lnTo>
                    <a:pt x="89069" y="1054438"/>
                  </a:lnTo>
                  <a:lnTo>
                    <a:pt x="132027" y="1072567"/>
                  </a:lnTo>
                  <a:lnTo>
                    <a:pt x="179832" y="1078992"/>
                  </a:lnTo>
                  <a:lnTo>
                    <a:pt x="11295888" y="1078992"/>
                  </a:lnTo>
                  <a:lnTo>
                    <a:pt x="11343692" y="1072567"/>
                  </a:lnTo>
                  <a:lnTo>
                    <a:pt x="11386650" y="1054438"/>
                  </a:lnTo>
                  <a:lnTo>
                    <a:pt x="11423046" y="1026318"/>
                  </a:lnTo>
                  <a:lnTo>
                    <a:pt x="11451166" y="989922"/>
                  </a:lnTo>
                  <a:lnTo>
                    <a:pt x="11469295" y="946964"/>
                  </a:lnTo>
                  <a:lnTo>
                    <a:pt x="11475720" y="899160"/>
                  </a:lnTo>
                  <a:lnTo>
                    <a:pt x="11475720" y="179831"/>
                  </a:lnTo>
                  <a:lnTo>
                    <a:pt x="11469295" y="132027"/>
                  </a:lnTo>
                  <a:lnTo>
                    <a:pt x="11451166" y="89069"/>
                  </a:lnTo>
                  <a:lnTo>
                    <a:pt x="11423046" y="52673"/>
                  </a:lnTo>
                  <a:lnTo>
                    <a:pt x="11386650" y="24553"/>
                  </a:lnTo>
                  <a:lnTo>
                    <a:pt x="11343692" y="6424"/>
                  </a:lnTo>
                  <a:lnTo>
                    <a:pt x="11295888" y="0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45008" y="3429000"/>
              <a:ext cx="11475720" cy="1079500"/>
            </a:xfrm>
            <a:custGeom>
              <a:avLst/>
              <a:gdLst/>
              <a:ahLst/>
              <a:cxnLst/>
              <a:rect l="l" t="t" r="r" b="b"/>
              <a:pathLst>
                <a:path w="11475720" h="1079500">
                  <a:moveTo>
                    <a:pt x="0" y="179831"/>
                  </a:moveTo>
                  <a:lnTo>
                    <a:pt x="6424" y="132027"/>
                  </a:lnTo>
                  <a:lnTo>
                    <a:pt x="24553" y="89069"/>
                  </a:lnTo>
                  <a:lnTo>
                    <a:pt x="52673" y="52673"/>
                  </a:lnTo>
                  <a:lnTo>
                    <a:pt x="89069" y="24553"/>
                  </a:lnTo>
                  <a:lnTo>
                    <a:pt x="132027" y="6424"/>
                  </a:lnTo>
                  <a:lnTo>
                    <a:pt x="179832" y="0"/>
                  </a:lnTo>
                  <a:lnTo>
                    <a:pt x="11295888" y="0"/>
                  </a:lnTo>
                  <a:lnTo>
                    <a:pt x="11343692" y="6424"/>
                  </a:lnTo>
                  <a:lnTo>
                    <a:pt x="11386650" y="24553"/>
                  </a:lnTo>
                  <a:lnTo>
                    <a:pt x="11423046" y="52673"/>
                  </a:lnTo>
                  <a:lnTo>
                    <a:pt x="11451166" y="89069"/>
                  </a:lnTo>
                  <a:lnTo>
                    <a:pt x="11469295" y="132027"/>
                  </a:lnTo>
                  <a:lnTo>
                    <a:pt x="11475720" y="179831"/>
                  </a:lnTo>
                  <a:lnTo>
                    <a:pt x="11475720" y="899160"/>
                  </a:lnTo>
                  <a:lnTo>
                    <a:pt x="11469295" y="946964"/>
                  </a:lnTo>
                  <a:lnTo>
                    <a:pt x="11451166" y="989922"/>
                  </a:lnTo>
                  <a:lnTo>
                    <a:pt x="11423046" y="1026318"/>
                  </a:lnTo>
                  <a:lnTo>
                    <a:pt x="11386650" y="1054438"/>
                  </a:lnTo>
                  <a:lnTo>
                    <a:pt x="11343692" y="1072567"/>
                  </a:lnTo>
                  <a:lnTo>
                    <a:pt x="11295888" y="1078992"/>
                  </a:lnTo>
                  <a:lnTo>
                    <a:pt x="179832" y="1078992"/>
                  </a:lnTo>
                  <a:lnTo>
                    <a:pt x="132027" y="1072567"/>
                  </a:lnTo>
                  <a:lnTo>
                    <a:pt x="89069" y="1054438"/>
                  </a:lnTo>
                  <a:lnTo>
                    <a:pt x="52673" y="1026318"/>
                  </a:lnTo>
                  <a:lnTo>
                    <a:pt x="24553" y="989922"/>
                  </a:lnTo>
                  <a:lnTo>
                    <a:pt x="6424" y="946964"/>
                  </a:lnTo>
                  <a:lnTo>
                    <a:pt x="0" y="899160"/>
                  </a:lnTo>
                  <a:lnTo>
                    <a:pt x="0" y="179831"/>
                  </a:lnTo>
                  <a:close/>
                </a:path>
              </a:pathLst>
            </a:custGeom>
            <a:ln w="12700">
              <a:solidFill>
                <a:srgbClr val="1735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PREDICTIONS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4299" y="130488"/>
            <a:ext cx="6618729" cy="6539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9268" y="320040"/>
            <a:ext cx="4744720" cy="646430"/>
          </a:xfrm>
          <a:prstGeom prst="rect">
            <a:avLst/>
          </a:prstGeom>
          <a:solidFill>
            <a:srgbClr val="B4CEF0"/>
          </a:solidFill>
        </p:spPr>
        <p:txBody>
          <a:bodyPr wrap="square" lIns="0" tIns="30480" rIns="0" bIns="0" rtlCol="0" vert="horz">
            <a:spAutoFit/>
          </a:bodyPr>
          <a:lstStyle/>
          <a:p>
            <a:pPr marL="90805" marR="154305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Using</a:t>
            </a:r>
            <a:r>
              <a:rPr dirty="0" sz="1800" spc="-6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Random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Forest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Regressor</a:t>
            </a:r>
            <a:r>
              <a:rPr dirty="0" sz="1800" spc="-7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5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Predict</a:t>
            </a:r>
            <a:r>
              <a:rPr dirty="0" sz="1800" spc="-4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Sales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5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8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New</a:t>
            </a:r>
            <a:r>
              <a:rPr dirty="0" sz="1800" spc="-5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281683"/>
            <a:ext cx="4744720" cy="2308860"/>
          </a:xfrm>
          <a:prstGeom prst="rect">
            <a:avLst/>
          </a:prstGeom>
          <a:solidFill>
            <a:srgbClr val="B4CEF0"/>
          </a:solidFill>
        </p:spPr>
        <p:txBody>
          <a:bodyPr wrap="square" lIns="0" tIns="31114" rIns="0" bIns="0" rtlCol="0" vert="horz">
            <a:spAutoFit/>
          </a:bodyPr>
          <a:lstStyle/>
          <a:p>
            <a:pPr marL="90805" marR="628015">
              <a:lnSpc>
                <a:spcPct val="100000"/>
              </a:lnSpc>
              <a:spcBef>
                <a:spcPts val="244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performance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created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was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checked</a:t>
            </a:r>
            <a:endParaRPr sz="1800">
              <a:latin typeface="Calibri"/>
              <a:cs typeface="Calibri"/>
            </a:endParaRPr>
          </a:p>
          <a:p>
            <a:pPr marL="90805" marR="1829435">
              <a:lnSpc>
                <a:spcPct val="100000"/>
              </a:lnSpc>
              <a:spcBef>
                <a:spcPts val="2160"/>
              </a:spcBef>
              <a:tabLst>
                <a:tab pos="1919605" algn="l"/>
              </a:tabLst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====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Performance====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R2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Score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:0.9214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tabLst>
                <a:tab pos="1919605" algn="l"/>
              </a:tabLst>
            </a:pP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MAE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:63.6403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tabLst>
                <a:tab pos="1919605" algn="l"/>
              </a:tabLst>
            </a:pP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MSE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:6633.6229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tabLst>
                <a:tab pos="1919605" algn="l"/>
              </a:tabLst>
            </a:pP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RMSE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:81.4471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3720084"/>
            <a:ext cx="4744720" cy="2862580"/>
          </a:xfrm>
          <a:prstGeom prst="rect">
            <a:avLst/>
          </a:prstGeom>
          <a:solidFill>
            <a:srgbClr val="B4CEF0"/>
          </a:solidFill>
        </p:spPr>
        <p:txBody>
          <a:bodyPr wrap="square" lIns="0" tIns="30480" rIns="0" bIns="0" rtlCol="0" vert="horz">
            <a:spAutoFit/>
          </a:bodyPr>
          <a:lstStyle/>
          <a:p>
            <a:pPr marL="90805" marR="146685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7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Was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Used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8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Predict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Of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New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Product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With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Following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Details.</a:t>
            </a:r>
            <a:endParaRPr sz="1800">
              <a:latin typeface="Calibri"/>
              <a:cs typeface="Calibri"/>
            </a:endParaRPr>
          </a:p>
          <a:p>
            <a:pPr marL="90805" marR="311531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Price: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50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Section: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Woman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Season:</a:t>
            </a:r>
            <a:r>
              <a:rPr dirty="0" sz="1800" spc="-7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Winter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Material:</a:t>
            </a:r>
            <a:r>
              <a:rPr dirty="0" sz="1800" spc="-8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Cotton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Origin: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Bangladesh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Predicted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4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7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2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new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product: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949.24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3288" y="408431"/>
            <a:ext cx="6129527" cy="56586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3776" y="431291"/>
            <a:ext cx="4980940" cy="646430"/>
          </a:xfrm>
          <a:custGeom>
            <a:avLst/>
            <a:gdLst/>
            <a:ahLst/>
            <a:cxnLst/>
            <a:rect l="l" t="t" r="r" b="b"/>
            <a:pathLst>
              <a:path w="4980940" h="646430">
                <a:moveTo>
                  <a:pt x="4980432" y="0"/>
                </a:moveTo>
                <a:lnTo>
                  <a:pt x="0" y="0"/>
                </a:lnTo>
                <a:lnTo>
                  <a:pt x="0" y="646176"/>
                </a:lnTo>
                <a:lnTo>
                  <a:pt x="4980432" y="646176"/>
                </a:lnTo>
                <a:lnTo>
                  <a:pt x="4980432" y="0"/>
                </a:lnTo>
                <a:close/>
              </a:path>
            </a:pathLst>
          </a:custGeom>
          <a:solidFill>
            <a:srgbClr val="B4CE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3125" y="448817"/>
            <a:ext cx="4289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Using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Logistics</a:t>
            </a:r>
            <a:r>
              <a:rPr dirty="0" sz="1800" spc="-2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Regression</a:t>
            </a:r>
            <a:r>
              <a:rPr dirty="0" sz="1800" spc="-6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in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Predicting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"High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Sales"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Products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318" y="211984"/>
            <a:ext cx="11197682" cy="63237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372" y="196595"/>
            <a:ext cx="11417935" cy="5355590"/>
          </a:xfrm>
          <a:custGeom>
            <a:avLst/>
            <a:gdLst/>
            <a:ahLst/>
            <a:cxnLst/>
            <a:rect l="l" t="t" r="r" b="b"/>
            <a:pathLst>
              <a:path w="11417935" h="5355590">
                <a:moveTo>
                  <a:pt x="11417808" y="0"/>
                </a:moveTo>
                <a:lnTo>
                  <a:pt x="0" y="0"/>
                </a:lnTo>
                <a:lnTo>
                  <a:pt x="0" y="5355335"/>
                </a:lnTo>
                <a:lnTo>
                  <a:pt x="11417808" y="5355335"/>
                </a:lnTo>
                <a:lnTo>
                  <a:pt x="11417808" y="0"/>
                </a:lnTo>
                <a:close/>
              </a:path>
            </a:pathLst>
          </a:custGeom>
          <a:solidFill>
            <a:srgbClr val="B4CE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7807" y="215265"/>
            <a:ext cx="11247120" cy="523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Optimization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analysis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"Winter</a:t>
            </a:r>
            <a:r>
              <a:rPr dirty="0" sz="1800" spc="-7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Jackets"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segment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Analysis</a:t>
            </a:r>
            <a:r>
              <a:rPr dirty="0" sz="1800" spc="-2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Results: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chart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visualizes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trade-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off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between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(x-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axis),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(blue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dashed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line),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Revenue</a:t>
            </a:r>
            <a:r>
              <a:rPr dirty="0" sz="1800" spc="-7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(green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solid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line).</a:t>
            </a:r>
            <a:endParaRPr sz="1800">
              <a:latin typeface="Calibri"/>
              <a:cs typeface="Calibri"/>
            </a:endParaRPr>
          </a:p>
          <a:p>
            <a:pPr marL="299085" marR="603885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Trend: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expected,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increases,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predicted</a:t>
            </a:r>
            <a:r>
              <a:rPr dirty="0" sz="1800" spc="-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sales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decreases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(blue</a:t>
            </a:r>
            <a:r>
              <a:rPr dirty="0" sz="1800" spc="-1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line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slopes downward).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Revenue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Sweet</a:t>
            </a:r>
            <a:r>
              <a:rPr dirty="0" sz="1800" spc="-6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Spot: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green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curve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shows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projected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revenue.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rises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initially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increases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(gaining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more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per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unit)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but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eventually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drops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when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loss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outweighs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increase.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Optimal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Point: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suggests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optimal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approximately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$64.74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lvl="1" marL="756285" marR="209550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Current</a:t>
            </a:r>
            <a:r>
              <a:rPr dirty="0" sz="1800" spc="-6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54868"/>
                </a:solidFill>
                <a:latin typeface="Calibri"/>
                <a:cs typeface="Calibri"/>
              </a:rPr>
              <a:t>Average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Price:</a:t>
            </a:r>
            <a:r>
              <a:rPr dirty="0" sz="1800" spc="-4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data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indicates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current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average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this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segment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is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roughly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$77.87</a:t>
            </a:r>
            <a:r>
              <a:rPr dirty="0" sz="1800" spc="-4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(derived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from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chart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range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center).</a:t>
            </a:r>
            <a:endParaRPr sz="1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Insight:</a:t>
            </a:r>
            <a:r>
              <a:rPr dirty="0" sz="1800" spc="-7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suggests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that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lowering</a:t>
            </a:r>
            <a:r>
              <a:rPr dirty="0" sz="1800" spc="-8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5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around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$65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could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potentially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maximize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total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revenue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driving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significantly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higher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volume,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despite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lower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margin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per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unit.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Projected</a:t>
            </a:r>
            <a:r>
              <a:rPr dirty="0" sz="1800" spc="-7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Max</a:t>
            </a:r>
            <a:r>
              <a:rPr dirty="0" sz="1800" spc="-5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Revenue:</a:t>
            </a:r>
            <a:r>
              <a:rPr dirty="0" sz="1800" spc="-60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suggests</a:t>
            </a:r>
            <a:r>
              <a:rPr dirty="0" sz="1800" spc="-6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projected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maximum</a:t>
            </a:r>
            <a:r>
              <a:rPr dirty="0" sz="1800" spc="-5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revenue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of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approximately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$47,180.18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154868"/>
                </a:solidFill>
                <a:latin typeface="Calibri"/>
                <a:cs typeface="Calibri"/>
              </a:rPr>
              <a:t>Recommendation:</a:t>
            </a:r>
            <a:r>
              <a:rPr dirty="0" sz="1800" spc="-6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Consider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testing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price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point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near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54868"/>
                </a:solidFill>
                <a:latin typeface="Calibri"/>
                <a:cs typeface="Calibri"/>
              </a:rPr>
              <a:t>$64.99</a:t>
            </a:r>
            <a:r>
              <a:rPr dirty="0" sz="1800" spc="-35" b="1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for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Winter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Jackets</a:t>
            </a:r>
            <a:r>
              <a:rPr dirty="0" sz="1800" spc="-3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to</a:t>
            </a:r>
            <a:r>
              <a:rPr dirty="0" sz="1800" spc="-4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see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if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154868"/>
                </a:solidFill>
                <a:latin typeface="Calibri"/>
                <a:cs typeface="Calibri"/>
              </a:rPr>
              <a:t> real-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world</a:t>
            </a:r>
            <a:r>
              <a:rPr dirty="0" sz="1800" spc="-2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volume</a:t>
            </a:r>
            <a:r>
              <a:rPr dirty="0" sz="1800" spc="-3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uplift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matches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54868"/>
                </a:solidFill>
                <a:latin typeface="Calibri"/>
                <a:cs typeface="Calibri"/>
              </a:rPr>
              <a:t>model's</a:t>
            </a:r>
            <a:r>
              <a:rPr dirty="0" sz="1800" spc="-45">
                <a:solidFill>
                  <a:srgbClr val="15486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54868"/>
                </a:solidFill>
                <a:latin typeface="Calibri"/>
                <a:cs typeface="Calibri"/>
              </a:rPr>
              <a:t>prediction.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095" y="2186912"/>
            <a:ext cx="6705666" cy="4360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2026-06-17T22:01:46Z</dcterms:created>
  <dcterms:modified xsi:type="dcterms:W3CDTF">2026-06-17T22:01:46Z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LastSaved">
    <vt:filetime>2026-06-17T00:00:00Z</vt:filetime>
  </property>
</Properties>
</file>